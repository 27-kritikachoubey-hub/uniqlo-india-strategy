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3" r:id="rId7"/>
    <p:sldId id="260" r:id="rId8"/>
    <p:sldId id="261" r:id="rId9"/>
    <p:sldId id="262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37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37E7-D2A6-F61B-02E9-E30FF8B0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FCD48-48B1-EDE4-5D07-DA0331142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6F080-726A-74A7-07CB-86ED63B9D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D9193-17CD-1050-5957-9E3E25AD1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24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videos/d/1ATWD5IvdIhznydVVvJNlzSgbemyHe-8nXx3OW3-Mwss/edit?usp=sharing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videos/d/1zfUulZM4zaJdFVOnWz0foJVKWLaAv14jfTUV19ajljs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UNIQLO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8FA3B1"/>
                </a:solidFill>
              </a:rPr>
              <a:t>INDIA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Strategic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Management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8001C"/>
                </a:solidFill>
              </a:rPr>
              <a:t>Analysis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3B1"/>
                </a:solidFill>
              </a:rPr>
              <a:t>A Comprehensive Business Transformation Study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502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LEARNING TEAM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005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Andeep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1353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Anshul Mutreja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17007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Khushi Verma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048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Kritika Choubey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Riya Rawat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Mohit Kumar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Prof. Indrajit Lahiri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FIIB · Strategic 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</a:rPr>
              <a:t>Fortune Institute of International Business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62FE7-0E0C-23C3-C08F-137F1F50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A54A6B-88BF-A75C-2BBD-19B3054DC478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196EDD-3571-CC2C-DDB4-728E140679F9}"/>
              </a:ext>
            </a:extLst>
          </p:cNvPr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Student Outreach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9A56D9-2E1A-9342-55CC-37AE3FC94DA2}"/>
              </a:ext>
            </a:extLst>
          </p:cNvPr>
          <p:cNvSpPr/>
          <p:nvPr/>
        </p:nvSpPr>
        <p:spPr>
          <a:xfrm>
            <a:off x="8412480" y="0"/>
            <a:ext cx="731520" cy="100584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990ACEAC-6854-2BB7-2454-65A92147F6F8}"/>
              </a:ext>
            </a:extLst>
          </p:cNvPr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solidFill>
            <a:srgbClr val="EFF3F6"/>
          </a:solidFill>
          <a:ln/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7CF802A-B430-B4E7-AB2D-FE4CE67F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4" y="1005840"/>
            <a:ext cx="3626603" cy="2061475"/>
          </a:xfrm>
          <a:prstGeom prst="rect">
            <a:avLst/>
          </a:prstGeom>
        </p:spPr>
      </p:pic>
      <p:pic>
        <p:nvPicPr>
          <p:cNvPr id="30" name="Picture 29">
            <a:hlinkClick r:id="rId4"/>
            <a:extLst>
              <a:ext uri="{FF2B5EF4-FFF2-40B4-BE49-F238E27FC236}">
                <a16:creationId xmlns:a16="http://schemas.microsoft.com/office/drawing/2014/main" id="{DF57068E-E1BA-EE1E-65F8-4958AF8197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311" r="1090"/>
          <a:stretch>
            <a:fillRect/>
          </a:stretch>
        </p:blipFill>
        <p:spPr>
          <a:xfrm>
            <a:off x="4200041" y="3131810"/>
            <a:ext cx="4889715" cy="2011690"/>
          </a:xfrm>
          <a:prstGeom prst="rect">
            <a:avLst/>
          </a:prstGeom>
        </p:spPr>
      </p:pic>
      <p:pic>
        <p:nvPicPr>
          <p:cNvPr id="32" name="Picture 31">
            <a:hlinkClick r:id="rId6"/>
            <a:extLst>
              <a:ext uri="{FF2B5EF4-FFF2-40B4-BE49-F238E27FC236}">
                <a16:creationId xmlns:a16="http://schemas.microsoft.com/office/drawing/2014/main" id="{DAAB94CE-2507-9A2F-06A4-699EEE6ED4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0041" y="1052542"/>
            <a:ext cx="4889715" cy="20792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E955531-930A-201C-B8C4-FF55D5E400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44" y="3176914"/>
            <a:ext cx="3626603" cy="192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9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0" y="0"/>
            <a:ext cx="731520" cy="100584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109728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463040"/>
            <a:ext cx="731520" cy="731520"/>
          </a:xfrm>
          <a:prstGeom prst="ellipse">
            <a:avLst/>
          </a:prstGeom>
          <a:solidFill>
            <a:srgbClr val="0085C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Global Giant,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Local Underdog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Uniqlo operates 2,400+ stores globally with 15%+ margins - yet has only ~18 stores in India, mostly in metro cities.</a:t>
            </a:r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651760" cy="10972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463040"/>
            <a:ext cx="731520" cy="731520"/>
          </a:xfrm>
          <a:prstGeom prst="ellipse">
            <a:avLst/>
          </a:prstGeom>
          <a:solidFill>
            <a:srgbClr val="E8001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544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The Real Gap: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Awareness, Not Quality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Primary research confirmed that Indian consumers often misclassify Uniqlo as fast fashion. The product is strong; the story isn't being told.</a:t>
            </a:r>
          </a:p>
        </p:txBody>
      </p:sp>
      <p:sp>
        <p:nvSpPr>
          <p:cNvPr id="17" name="Shape 13"/>
          <p:cNvSpPr/>
          <p:nvPr/>
        </p:nvSpPr>
        <p:spPr>
          <a:xfrm>
            <a:off x="608076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234440"/>
            <a:ext cx="2651760" cy="109728"/>
          </a:xfrm>
          <a:prstGeom prst="rect">
            <a:avLst/>
          </a:prstGeom>
          <a:solidFill>
            <a:srgbClr val="22A855"/>
          </a:solidFill>
          <a:ln w="12700">
            <a:solidFill>
              <a:srgbClr val="22A8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rgbClr val="22A85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Massive Opportunity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</a:rPr>
              <a:t>Ahead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India's fashion market is growing at 12.87% CAGR. Tier 2/3 cities contribute 40% of apparel demand with zero Uniqlo presence.</a:t>
            </a:r>
          </a:p>
        </p:txBody>
      </p:sp>
      <p:sp>
        <p:nvSpPr>
          <p:cNvPr id="23" name="Shape 18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solidFill>
            <a:srgbClr val="EFF3F6"/>
          </a:solidFill>
          <a:ln/>
        </p:spPr>
      </p:sp>
      <p:sp>
        <p:nvSpPr>
          <p:cNvPr id="24" name="Text 19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</a:rPr>
              <a:t>Core Thesis: Uniqlo India is not a failing brand — it is an underpenetrated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ABOUT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UNIQLO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Owned by Fast Retailing Co. Ltd., Japan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Entered India: October 2019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Philosophy: LifeWear™</a:t>
            </a:r>
          </a:p>
        </p:txBody>
      </p:sp>
      <p:sp>
        <p:nvSpPr>
          <p:cNvPr id="5" name="Shape 3"/>
          <p:cNvSpPr/>
          <p:nvPr/>
        </p:nvSpPr>
        <p:spPr>
          <a:xfrm>
            <a:off x="3474720" y="411480"/>
            <a:ext cx="2468880" cy="1920240"/>
          </a:xfrm>
          <a:prstGeom prst="rect">
            <a:avLst/>
          </a:prstGeom>
          <a:solidFill>
            <a:srgbClr val="EFF3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0" y="411480"/>
            <a:ext cx="91440" cy="19202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640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D3D"/>
                </a:solidFill>
              </a:rPr>
              <a:t>2019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274"/>
                </a:solidFill>
              </a:rPr>
              <a:t>Entered India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First store in New Delhi</a:t>
            </a:r>
          </a:p>
        </p:txBody>
      </p:sp>
      <p:sp>
        <p:nvSpPr>
          <p:cNvPr id="10" name="Shape 8"/>
          <p:cNvSpPr/>
          <p:nvPr/>
        </p:nvSpPr>
        <p:spPr>
          <a:xfrm>
            <a:off x="6217920" y="411480"/>
            <a:ext cx="2468880" cy="1920240"/>
          </a:xfrm>
          <a:prstGeom prst="rect">
            <a:avLst/>
          </a:prstGeom>
          <a:solidFill>
            <a:srgbClr val="EFF3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411480"/>
            <a:ext cx="91440" cy="19202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640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D3D"/>
                </a:solidFill>
              </a:rPr>
              <a:t>~18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274"/>
                </a:solidFill>
              </a:rPr>
              <a:t>Stores in India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Concentrated in metros</a:t>
            </a:r>
          </a:p>
        </p:txBody>
      </p:sp>
      <p:sp>
        <p:nvSpPr>
          <p:cNvPr id="15" name="Shape 13"/>
          <p:cNvSpPr/>
          <p:nvPr/>
        </p:nvSpPr>
        <p:spPr>
          <a:xfrm>
            <a:off x="3474720" y="2651760"/>
            <a:ext cx="2468880" cy="1920240"/>
          </a:xfrm>
          <a:prstGeom prst="rect">
            <a:avLst/>
          </a:prstGeom>
          <a:solidFill>
            <a:srgbClr val="EFF3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2651760"/>
            <a:ext cx="91440" cy="19202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880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D3D"/>
                </a:solidFill>
              </a:rPr>
              <a:t>₹1,000+Cr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65760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274"/>
                </a:solidFill>
              </a:rPr>
              <a:t>FY25 Revenue India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15% post-tax margins</a:t>
            </a:r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2468880" cy="1920240"/>
          </a:xfrm>
          <a:prstGeom prst="rect">
            <a:avLst/>
          </a:prstGeom>
          <a:solidFill>
            <a:srgbClr val="EFF3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651760"/>
            <a:ext cx="91440" cy="19202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880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D3D"/>
                </a:solidFill>
              </a:rPr>
              <a:t>2,400+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274"/>
                </a:solidFill>
              </a:rPr>
              <a:t>Global Stores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Top global retailer</a:t>
            </a:r>
          </a:p>
        </p:txBody>
      </p:sp>
      <p:sp>
        <p:nvSpPr>
          <p:cNvPr id="25" name="Text 23"/>
          <p:cNvSpPr/>
          <p:nvPr/>
        </p:nvSpPr>
        <p:spPr>
          <a:xfrm>
            <a:off x="3474720" y="47548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6274"/>
                </a:solidFill>
              </a:rPr>
              <a:t>Brand Pillars: HEATTECH · AIRism · PUFFTECH · LifeWear™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Primary Research  ·  Store Manager Interviews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via LinkedIn &amp; Google Meet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Brand Positioning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LifeWear philosophy: functional, quality-driven clothing built to last. Deliberately avoids seasonal churn.</a:t>
            </a:r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Operational Strength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Strong inventory discipline, customer-centric service protocols, and Japanese operational standards.</a:t>
            </a:r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Product Innovation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78892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HEATTECH, AIRism, and LifeWear are core pillars and primary drivers of repeat customer retention.</a:t>
            </a:r>
          </a:p>
        </p:txBody>
      </p:sp>
      <p:sp>
        <p:nvSpPr>
          <p:cNvPr id="17" name="Shape 15"/>
          <p:cNvSpPr/>
          <p:nvPr/>
        </p:nvSpPr>
        <p:spPr>
          <a:xfrm>
            <a:off x="4709160" y="2377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7744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Awareness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Many customers walk in perceiving Uniqlo as 'just another fast-fashion brand’ - functional USP not understood.</a:t>
            </a:r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Store Reach Limit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Only 18 stores in metros. Tier 2 &amp; 3 cities have virtually zero penetration — significant untapped demand.</a:t>
            </a:r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73152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Local Adaptation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06908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Indian consumers have distinct fit, colour, and occasion-wear preferences requiring product localisation.</a:t>
            </a:r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solidFill>
            <a:srgbClr val="E8001C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3D"/>
                </a:solidFill>
              </a:rPr>
              <a:t>Key Insight: Uniqlo is not failing - it is underpenetrated. The gap is not capability; it is communication.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SWOT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6756" y="1119985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25196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435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Strong LifeWear philosophy - functional, timeless clothing</a:t>
            </a:r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Patented tech: HEATTECH, AIRism, PUFFTECH</a:t>
            </a:r>
          </a:p>
        </p:txBody>
      </p:sp>
      <p:sp>
        <p:nvSpPr>
          <p:cNvPr id="9" name="Text 7"/>
          <p:cNvSpPr/>
          <p:nvPr/>
        </p:nvSpPr>
        <p:spPr>
          <a:xfrm>
            <a:off x="292608" y="2002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Disciplined inventory &amp; customer-centric service</a:t>
            </a:r>
          </a:p>
        </p:txBody>
      </p:sp>
      <p:sp>
        <p:nvSpPr>
          <p:cNvPr id="10" name="Text 8"/>
          <p:cNvSpPr/>
          <p:nvPr/>
        </p:nvSpPr>
        <p:spPr>
          <a:xfrm>
            <a:off x="292608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Financially healthy - 15% post-tax margins (FY25)</a:t>
            </a:r>
          </a:p>
        </p:txBody>
      </p:sp>
      <p:sp>
        <p:nvSpPr>
          <p:cNvPr id="11" name="Text 9"/>
          <p:cNvSpPr/>
          <p:nvPr/>
        </p:nvSpPr>
        <p:spPr>
          <a:xfrm>
            <a:off x="292608" y="2569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Global scale with local learning approach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4251960" cy="36576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WEAKNESSES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435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Only ~18 stores - concentrated in metro cities</a:t>
            </a:r>
          </a:p>
        </p:txBody>
      </p:sp>
      <p:sp>
        <p:nvSpPr>
          <p:cNvPr id="16" name="Text 14"/>
          <p:cNvSpPr/>
          <p:nvPr/>
        </p:nvSpPr>
        <p:spPr>
          <a:xfrm>
            <a:off x="4773168" y="1719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Limited brand awareness outside major urban centers</a:t>
            </a:r>
          </a:p>
        </p:txBody>
      </p:sp>
      <p:sp>
        <p:nvSpPr>
          <p:cNvPr id="17" name="Text 15"/>
          <p:cNvSpPr/>
          <p:nvPr/>
        </p:nvSpPr>
        <p:spPr>
          <a:xfrm>
            <a:off x="4773168" y="2002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Perceived as 'just another fast fashion brand'</a:t>
            </a:r>
          </a:p>
        </p:txBody>
      </p:sp>
      <p:sp>
        <p:nvSpPr>
          <p:cNvPr id="18" name="Text 16"/>
          <p:cNvSpPr/>
          <p:nvPr/>
        </p:nvSpPr>
        <p:spPr>
          <a:xfrm>
            <a:off x="4773168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Limited size range &amp; colour options for Indian body types</a:t>
            </a:r>
          </a:p>
        </p:txBody>
      </p:sp>
      <p:sp>
        <p:nvSpPr>
          <p:cNvPr id="19" name="Text 17"/>
          <p:cNvSpPr/>
          <p:nvPr/>
        </p:nvSpPr>
        <p:spPr>
          <a:xfrm>
            <a:off x="4773168" y="2569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Slow to adopt 'drop culture’ - less exciting for Gen Z</a:t>
            </a:r>
          </a:p>
        </p:txBody>
      </p:sp>
      <p:sp>
        <p:nvSpPr>
          <p:cNvPr id="20" name="Shape 18"/>
          <p:cNvSpPr/>
          <p:nvPr/>
        </p:nvSpPr>
        <p:spPr>
          <a:xfrm>
            <a:off x="182880" y="3044952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044952"/>
            <a:ext cx="4251960" cy="3657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OPPORTUNITIES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" y="3429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Fashion retail growing at 12.87% CAGR</a:t>
            </a:r>
          </a:p>
        </p:txBody>
      </p:sp>
      <p:sp>
        <p:nvSpPr>
          <p:cNvPr id="24" name="Text 22"/>
          <p:cNvSpPr/>
          <p:nvPr/>
        </p:nvSpPr>
        <p:spPr>
          <a:xfrm>
            <a:off x="292608" y="3712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Tier 2 &amp; 3 cities contribute ~40% of apparel demand</a:t>
            </a:r>
          </a:p>
        </p:txBody>
      </p:sp>
      <p:sp>
        <p:nvSpPr>
          <p:cNvPr id="25" name="Text 23"/>
          <p:cNvSpPr/>
          <p:nvPr/>
        </p:nvSpPr>
        <p:spPr>
          <a:xfrm>
            <a:off x="292608" y="39959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Rising middle class &amp; working women = premium spending</a:t>
            </a:r>
          </a:p>
        </p:txBody>
      </p:sp>
      <p:sp>
        <p:nvSpPr>
          <p:cNvPr id="26" name="Text 24"/>
          <p:cNvSpPr/>
          <p:nvPr/>
        </p:nvSpPr>
        <p:spPr>
          <a:xfrm>
            <a:off x="292608" y="4279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Online fashion market projected at USD 35B by 2025</a:t>
            </a:r>
          </a:p>
        </p:txBody>
      </p:sp>
      <p:sp>
        <p:nvSpPr>
          <p:cNvPr id="27" name="Text 25"/>
          <p:cNvSpPr/>
          <p:nvPr/>
        </p:nvSpPr>
        <p:spPr>
          <a:xfrm>
            <a:off x="292608" y="4562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Sustainability trend aligns with Uniqlo's core values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3044952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44952"/>
            <a:ext cx="4251960" cy="3657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THREATS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3429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H&amp;M and Zara have first-mover advantage in India</a:t>
            </a:r>
          </a:p>
        </p:txBody>
      </p:sp>
      <p:sp>
        <p:nvSpPr>
          <p:cNvPr id="32" name="Text 30"/>
          <p:cNvSpPr/>
          <p:nvPr/>
        </p:nvSpPr>
        <p:spPr>
          <a:xfrm>
            <a:off x="4773168" y="3712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Strong domestic players (Reliance, Tata, ABFRL)</a:t>
            </a:r>
          </a:p>
        </p:txBody>
      </p:sp>
      <p:sp>
        <p:nvSpPr>
          <p:cNvPr id="33" name="Text 31"/>
          <p:cNvSpPr/>
          <p:nvPr/>
        </p:nvSpPr>
        <p:spPr>
          <a:xfrm>
            <a:off x="4773168" y="39959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Price-sensitive consumers may not value premium</a:t>
            </a:r>
          </a:p>
        </p:txBody>
      </p:sp>
      <p:sp>
        <p:nvSpPr>
          <p:cNvPr id="34" name="Text 32"/>
          <p:cNvSpPr/>
          <p:nvPr/>
        </p:nvSpPr>
        <p:spPr>
          <a:xfrm>
            <a:off x="4773168" y="4279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D2C brands capturing young, digital-native shoppers</a:t>
            </a:r>
          </a:p>
        </p:txBody>
      </p:sp>
      <p:sp>
        <p:nvSpPr>
          <p:cNvPr id="35" name="Text 33"/>
          <p:cNvSpPr/>
          <p:nvPr/>
        </p:nvSpPr>
        <p:spPr>
          <a:xfrm>
            <a:off x="4773168" y="4562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▸  </a:t>
            </a:r>
            <a:r>
              <a:rPr lang="en-US" sz="1000" dirty="0"/>
              <a:t>Reliance on offline stores in fast-growing e-commerce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PESTLE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15568"/>
            <a:ext cx="502920" cy="173736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11556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8096" y="12252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Political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59105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100% FDI allowed · 'Make in India' initiative reduces costs &amp; strengthens supply chain</a:t>
            </a:r>
          </a:p>
        </p:txBody>
      </p:sp>
      <p:sp>
        <p:nvSpPr>
          <p:cNvPr id="10" name="Shape 8"/>
          <p:cNvSpPr/>
          <p:nvPr/>
        </p:nvSpPr>
        <p:spPr>
          <a:xfrm>
            <a:off x="3127248" y="111556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1115568"/>
            <a:ext cx="502920" cy="1737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111556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94176" y="12252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Economic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94176" y="159105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Fashion retail growing at 12.87% CAGR · Rising incomes · Huge Tier 2/3 potential</a:t>
            </a:r>
          </a:p>
        </p:txBody>
      </p:sp>
      <p:sp>
        <p:nvSpPr>
          <p:cNvPr id="15" name="Shape 13"/>
          <p:cNvSpPr/>
          <p:nvPr/>
        </p:nvSpPr>
        <p:spPr>
          <a:xfrm>
            <a:off x="6053328" y="111556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115568"/>
            <a:ext cx="502920" cy="1737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111556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20256" y="12252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Social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59105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Young, aspirational population · Growing demand for western wear · Quality loyalty post-trial</a:t>
            </a:r>
          </a:p>
        </p:txBody>
      </p:sp>
      <p:sp>
        <p:nvSpPr>
          <p:cNvPr id="20" name="Shape 18"/>
          <p:cNvSpPr/>
          <p:nvPr/>
        </p:nvSpPr>
        <p:spPr>
          <a:xfrm>
            <a:off x="201168" y="303580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035808"/>
            <a:ext cx="502920" cy="17373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" y="303580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8096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Technological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351129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High digital penetration · Strong e-commerce ecosystem · AI-driven inventory opportunities</a:t>
            </a:r>
          </a:p>
        </p:txBody>
      </p:sp>
      <p:sp>
        <p:nvSpPr>
          <p:cNvPr id="25" name="Shape 23"/>
          <p:cNvSpPr/>
          <p:nvPr/>
        </p:nvSpPr>
        <p:spPr>
          <a:xfrm>
            <a:off x="3127248" y="303580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3035808"/>
            <a:ext cx="502920" cy="173736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7" name="Text 25"/>
          <p:cNvSpPr/>
          <p:nvPr/>
        </p:nvSpPr>
        <p:spPr>
          <a:xfrm>
            <a:off x="3127248" y="303580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L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94176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Legal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94176" y="351129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GST affects pricing · Labour laws &amp; sourcing compliance · Partnerships crucial for smooth ops</a:t>
            </a:r>
          </a:p>
        </p:txBody>
      </p:sp>
      <p:sp>
        <p:nvSpPr>
          <p:cNvPr id="30" name="Shape 28"/>
          <p:cNvSpPr/>
          <p:nvPr/>
        </p:nvSpPr>
        <p:spPr>
          <a:xfrm>
            <a:off x="6053328" y="3035808"/>
            <a:ext cx="2743200" cy="173736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3035808"/>
            <a:ext cx="502920" cy="1737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3035808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E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620256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</a:rPr>
              <a:t>Environmental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0256" y="3511296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Sustainability trend rising · LifeWear 'buy less, buy better' aligns with conscious consumerism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Porter's Five Forces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Competitive Landscape · India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097280"/>
            <a:ext cx="27432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252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Competitive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Rivalry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19072"/>
            <a:ext cx="2560320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029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/>
              <a:t>Zara, H&amp;M, Reliance, Trent - intense competition, but Uniqlo's LifeWear niche reduces direct rivalry</a:t>
            </a:r>
          </a:p>
        </p:txBody>
      </p:sp>
      <p:sp>
        <p:nvSpPr>
          <p:cNvPr id="11" name="Shape 9"/>
          <p:cNvSpPr/>
          <p:nvPr/>
        </p:nvSpPr>
        <p:spPr>
          <a:xfrm>
            <a:off x="182880" y="10972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097280"/>
            <a:ext cx="27432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252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Threat of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New Entrants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256032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029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/>
              <a:t>Capital &amp; supply chain barriers exist; DTC models lower entry bar; SPA model is a moat</a:t>
            </a:r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2252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Buyer Power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719072"/>
            <a:ext cx="2560320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029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/>
              <a:t>Price-conscious consumers with vast choice; tech-loyal customers (HEATTECH) show stickiness</a:t>
            </a:r>
          </a:p>
        </p:txBody>
      </p:sp>
      <p:sp>
        <p:nvSpPr>
          <p:cNvPr id="23" name="Shape 21"/>
          <p:cNvSpPr/>
          <p:nvPr/>
        </p:nvSpPr>
        <p:spPr>
          <a:xfrm>
            <a:off x="182880" y="27889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788920"/>
            <a:ext cx="2743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916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Supplier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Power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10712"/>
            <a:ext cx="256032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721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/>
              <a:t>SPA model gives strong leverage; India being developed as a key sourcing hub</a:t>
            </a:r>
          </a:p>
        </p:txBody>
      </p:sp>
      <p:sp>
        <p:nvSpPr>
          <p:cNvPr id="29" name="Shape 27"/>
          <p:cNvSpPr/>
          <p:nvPr/>
        </p:nvSpPr>
        <p:spPr>
          <a:xfrm>
            <a:off x="6217920" y="27889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788920"/>
            <a:ext cx="2743200" cy="7315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16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Threat of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</a:rPr>
              <a:t>Substitutes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410712"/>
            <a:ext cx="2560320" cy="25603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MEDIUM-HIGH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721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/>
              <a:t>Jockey, Levi's, D2C brands, athleisure trend (5%+ CAGR) - easy to switch before loyalty</a:t>
            </a:r>
          </a:p>
        </p:txBody>
      </p:sp>
      <p:sp>
        <p:nvSpPr>
          <p:cNvPr id="36" name="Text 34"/>
          <p:cNvSpPr/>
          <p:nvPr/>
        </p:nvSpPr>
        <p:spPr>
          <a:xfrm>
            <a:off x="3337560" y="26974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UNIQLO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INDIA</a:t>
            </a:r>
            <a:endParaRPr lang="en-US" sz="15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E8F5BBE-AD6A-8170-818D-F5D26F7B6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77" y="2788111"/>
            <a:ext cx="1972246" cy="1948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VRIO Analysis  ·  Internal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926080" cy="38404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51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Resource / Capability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45536" y="1051560"/>
            <a:ext cx="777240" cy="38404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5"/>
          <p:cNvSpPr/>
          <p:nvPr/>
        </p:nvSpPr>
        <p:spPr>
          <a:xfrm>
            <a:off x="3145536" y="1051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Valuable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59352" y="1051560"/>
            <a:ext cx="777240" cy="38404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7"/>
          <p:cNvSpPr/>
          <p:nvPr/>
        </p:nvSpPr>
        <p:spPr>
          <a:xfrm>
            <a:off x="3959352" y="1051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051560"/>
            <a:ext cx="822960" cy="38404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051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Inimitable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32704" y="1051560"/>
            <a:ext cx="3474720" cy="38404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5632704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Competitive Implication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481328"/>
            <a:ext cx="292608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148132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LifeWear Philosophy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45536" y="148132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7" name="Text 15"/>
          <p:cNvSpPr/>
          <p:nvPr/>
        </p:nvSpPr>
        <p:spPr>
          <a:xfrm>
            <a:off x="3145536" y="148132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59352" y="148132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3959352" y="148132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1481328"/>
            <a:ext cx="82296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48132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~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32704" y="1481328"/>
            <a:ext cx="347472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3" name="Text 21"/>
          <p:cNvSpPr/>
          <p:nvPr/>
        </p:nvSpPr>
        <p:spPr>
          <a:xfrm>
            <a:off x="5632704" y="148132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Sustained Advantage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1984248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HEATTECH / AIRism / PUFFTECH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45536" y="198424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145536" y="198424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59352" y="198424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59352" y="198424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1984248"/>
            <a:ext cx="822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198424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32704" y="1984248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632704" y="198424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Strong Sustained Advantage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2487168"/>
            <a:ext cx="292608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248716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Inventory &amp; Store Ops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45536" y="248716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7" name="Text 35"/>
          <p:cNvSpPr/>
          <p:nvPr/>
        </p:nvSpPr>
        <p:spPr>
          <a:xfrm>
            <a:off x="3145536" y="248716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59352" y="248716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9" name="Text 37"/>
          <p:cNvSpPr/>
          <p:nvPr/>
        </p:nvSpPr>
        <p:spPr>
          <a:xfrm>
            <a:off x="3959352" y="248716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73168" y="2487168"/>
            <a:ext cx="82296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248716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32704" y="2487168"/>
            <a:ext cx="347472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43" name="Text 41"/>
          <p:cNvSpPr/>
          <p:nvPr/>
        </p:nvSpPr>
        <p:spPr>
          <a:xfrm>
            <a:off x="5632704" y="248716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Competitive Parity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2990088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82880" y="299008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Financial Health (15% margin)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45536" y="299008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145536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59352" y="299008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959352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73168" y="2990088"/>
            <a:ext cx="822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773168" y="299008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32704" y="2990088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632704" y="299008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Competitive Parity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3493008"/>
            <a:ext cx="292608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5" name="Text 53"/>
          <p:cNvSpPr/>
          <p:nvPr/>
        </p:nvSpPr>
        <p:spPr>
          <a:xfrm>
            <a:off x="182880" y="349300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Global Brand Reputation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45536" y="349300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7" name="Text 55"/>
          <p:cNvSpPr/>
          <p:nvPr/>
        </p:nvSpPr>
        <p:spPr>
          <a:xfrm>
            <a:off x="3145536" y="349300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959352" y="3493008"/>
            <a:ext cx="77724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9" name="Text 57"/>
          <p:cNvSpPr/>
          <p:nvPr/>
        </p:nvSpPr>
        <p:spPr>
          <a:xfrm>
            <a:off x="3959352" y="349300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73168" y="3493008"/>
            <a:ext cx="82296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1" name="Text 59"/>
          <p:cNvSpPr/>
          <p:nvPr/>
        </p:nvSpPr>
        <p:spPr>
          <a:xfrm>
            <a:off x="4773168" y="349300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32704" y="3493008"/>
            <a:ext cx="3474720" cy="43891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3" name="Text 61"/>
          <p:cNvSpPr/>
          <p:nvPr/>
        </p:nvSpPr>
        <p:spPr>
          <a:xfrm>
            <a:off x="5632704" y="349300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7575"/>
                </a:solidFill>
              </a:rPr>
              <a:t>Parity (Low India Awareness)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82880" y="3995928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82880" y="3995928"/>
            <a:ext cx="2926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D3D"/>
                </a:solidFill>
              </a:rPr>
              <a:t>Fast Retailing Ecosystem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45536" y="399592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145536" y="399592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959352" y="3995928"/>
            <a:ext cx="777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959352" y="3995928"/>
            <a:ext cx="7772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73168" y="3995928"/>
            <a:ext cx="822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773168" y="3995928"/>
            <a:ext cx="822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274"/>
                </a:solidFill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32704" y="3995928"/>
            <a:ext cx="3474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632704" y="3995928"/>
            <a:ext cx="34747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Sustained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Strategic Gaps (Strategic Cracks)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1"/>
                </a:solidFill>
              </a:rPr>
              <a:t>Where Uniqlo India must 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594360" cy="658368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Geographic Underpenetration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1615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18 stores vs H&amp;M's 60+ · Tier 2/3 cities (40% of apparel sales) have zero Uniqlo presence · Need 50+ stores in 5 years</a:t>
            </a:r>
          </a:p>
        </p:txBody>
      </p:sp>
      <p:sp>
        <p:nvSpPr>
          <p:cNvPr id="9" name="Shape 7"/>
          <p:cNvSpPr/>
          <p:nvPr/>
        </p:nvSpPr>
        <p:spPr>
          <a:xfrm>
            <a:off x="3840480" y="1234440"/>
            <a:ext cx="27432" cy="475488"/>
          </a:xfrm>
          <a:prstGeom prst="rect">
            <a:avLst/>
          </a:prstGeom>
          <a:solidFill>
            <a:srgbClr val="E8001C">
              <a:alpha val="60000"/>
            </a:srgbClr>
          </a:solidFill>
          <a:ln w="12700">
            <a:solidFill>
              <a:srgbClr val="E8001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85953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920240"/>
            <a:ext cx="594360" cy="658368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202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Awareness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19933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Many Indians misclassify Uniqlo as fast fashion · Technology storytelling is under-invested vs competitors</a:t>
            </a:r>
          </a:p>
        </p:txBody>
      </p:sp>
      <p:sp>
        <p:nvSpPr>
          <p:cNvPr id="15" name="Shape 13"/>
          <p:cNvSpPr/>
          <p:nvPr/>
        </p:nvSpPr>
        <p:spPr>
          <a:xfrm>
            <a:off x="3840480" y="2011680"/>
            <a:ext cx="27432" cy="475488"/>
          </a:xfrm>
          <a:prstGeom prst="rect">
            <a:avLst/>
          </a:prstGeom>
          <a:solidFill>
            <a:srgbClr val="E8001C">
              <a:alpha val="60000"/>
            </a:srgbClr>
          </a:solidFill>
          <a:ln w="12700">
            <a:solidFill>
              <a:srgbClr val="E8001C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97480"/>
            <a:ext cx="85953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97480"/>
            <a:ext cx="594360" cy="658368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6974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770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Localisation Deficit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7706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Festive/ethnic wear is a huge Indian market that is entirely missed · Size ranges not adapted for Indian body types</a:t>
            </a:r>
          </a:p>
        </p:txBody>
      </p:sp>
      <p:sp>
        <p:nvSpPr>
          <p:cNvPr id="21" name="Shape 19"/>
          <p:cNvSpPr/>
          <p:nvPr/>
        </p:nvSpPr>
        <p:spPr>
          <a:xfrm>
            <a:off x="3840480" y="2788920"/>
            <a:ext cx="27432" cy="475488"/>
          </a:xfrm>
          <a:prstGeom prst="rect">
            <a:avLst/>
          </a:prstGeom>
          <a:solidFill>
            <a:srgbClr val="E8001C">
              <a:alpha val="60000"/>
            </a:srgbClr>
          </a:solidFill>
          <a:ln w="12700">
            <a:solidFill>
              <a:srgbClr val="E8001C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74720"/>
            <a:ext cx="85953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474720"/>
            <a:ext cx="594360" cy="658368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4747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Digital Channel 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547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Only 15% of revenue from e-commerce vs. 30%+ for peers · Self-imposed marketplace exclusivity limits discovery</a:t>
            </a:r>
          </a:p>
        </p:txBody>
      </p:sp>
      <p:sp>
        <p:nvSpPr>
          <p:cNvPr id="27" name="Shape 25"/>
          <p:cNvSpPr/>
          <p:nvPr/>
        </p:nvSpPr>
        <p:spPr>
          <a:xfrm>
            <a:off x="3840480" y="3566160"/>
            <a:ext cx="27432" cy="475488"/>
          </a:xfrm>
          <a:prstGeom prst="rect">
            <a:avLst/>
          </a:prstGeom>
          <a:solidFill>
            <a:srgbClr val="E8001C">
              <a:alpha val="60000"/>
            </a:srgbClr>
          </a:solidFill>
          <a:ln w="12700">
            <a:solidFill>
              <a:srgbClr val="E8001C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519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Growth Strategy  ·  Ansoff Matrix</a:t>
            </a:r>
            <a:endParaRPr lang="en-US" sz="2200" dirty="0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7856FCF7-F3D8-398C-84BE-57EC85FD166D}"/>
              </a:ext>
            </a:extLst>
          </p:cNvPr>
          <p:cNvSpPr/>
          <p:nvPr/>
        </p:nvSpPr>
        <p:spPr>
          <a:xfrm>
            <a:off x="4677697" y="2926080"/>
            <a:ext cx="2265543" cy="1576178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8DC2CF67-CA71-84BD-CD75-FC76B17ED3EB}"/>
              </a:ext>
            </a:extLst>
          </p:cNvPr>
          <p:cNvSpPr/>
          <p:nvPr/>
        </p:nvSpPr>
        <p:spPr>
          <a:xfrm>
            <a:off x="4677697" y="2926079"/>
            <a:ext cx="2265543" cy="82957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C5E057A7-2DC3-B72A-96F2-987AA0781EAE}"/>
              </a:ext>
            </a:extLst>
          </p:cNvPr>
          <p:cNvSpPr/>
          <p:nvPr/>
        </p:nvSpPr>
        <p:spPr>
          <a:xfrm>
            <a:off x="4750849" y="3035808"/>
            <a:ext cx="2103719" cy="414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</a:rPr>
              <a:t>Market Penetration</a:t>
            </a:r>
            <a:endParaRPr lang="en-US" sz="10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083E2070-E2F6-6F99-534C-7BD458BB0CF1}"/>
              </a:ext>
            </a:extLst>
          </p:cNvPr>
          <p:cNvSpPr/>
          <p:nvPr/>
        </p:nvSpPr>
        <p:spPr>
          <a:xfrm>
            <a:off x="4750849" y="3675887"/>
            <a:ext cx="2103719" cy="6740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Deepen existing cities · Digital education campaigns · Loyalty programmes</a:t>
            </a: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E4C0AD5E-3417-F55E-A0CF-1E524802A369}"/>
              </a:ext>
            </a:extLst>
          </p:cNvPr>
          <p:cNvSpPr/>
          <p:nvPr/>
        </p:nvSpPr>
        <p:spPr>
          <a:xfrm>
            <a:off x="4677696" y="1275588"/>
            <a:ext cx="2265543" cy="144018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645085EA-F85D-CC90-BA46-AE2E75835510}"/>
              </a:ext>
            </a:extLst>
          </p:cNvPr>
          <p:cNvSpPr/>
          <p:nvPr/>
        </p:nvSpPr>
        <p:spPr>
          <a:xfrm>
            <a:off x="4677696" y="1275588"/>
            <a:ext cx="2265543" cy="7129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BDD7CB3A-3F51-2248-A52A-6B04C9F6C4D2}"/>
              </a:ext>
            </a:extLst>
          </p:cNvPr>
          <p:cNvSpPr/>
          <p:nvPr/>
        </p:nvSpPr>
        <p:spPr>
          <a:xfrm>
            <a:off x="4750848" y="1385316"/>
            <a:ext cx="2103719" cy="3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</a:rPr>
              <a:t>Product Development</a:t>
            </a:r>
            <a:endParaRPr lang="en-US" sz="105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F0121FCA-C3BB-5A30-FE52-ADF0AA644A6A}"/>
              </a:ext>
            </a:extLst>
          </p:cNvPr>
          <p:cNvSpPr/>
          <p:nvPr/>
        </p:nvSpPr>
        <p:spPr>
          <a:xfrm>
            <a:off x="4750848" y="2025396"/>
            <a:ext cx="2103719" cy="579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India-specific fabrics · Ethnic-contemporary fusion · Adapted size ranges</a:t>
            </a: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E3752763-1139-AD3F-1AA2-3A349E85BEFB}"/>
              </a:ext>
            </a:extLst>
          </p:cNvPr>
          <p:cNvSpPr/>
          <p:nvPr/>
        </p:nvSpPr>
        <p:spPr>
          <a:xfrm>
            <a:off x="2027488" y="2926078"/>
            <a:ext cx="2265543" cy="1576179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91E70355-B2A0-F3E4-372B-BF0E97014081}"/>
              </a:ext>
            </a:extLst>
          </p:cNvPr>
          <p:cNvSpPr/>
          <p:nvPr/>
        </p:nvSpPr>
        <p:spPr>
          <a:xfrm>
            <a:off x="2027488" y="2926078"/>
            <a:ext cx="2265543" cy="82957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204FC89C-D2C4-0603-86D9-FC2F80463D9B}"/>
              </a:ext>
            </a:extLst>
          </p:cNvPr>
          <p:cNvSpPr/>
          <p:nvPr/>
        </p:nvSpPr>
        <p:spPr>
          <a:xfrm>
            <a:off x="2106441" y="3035807"/>
            <a:ext cx="2103718" cy="414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</a:rPr>
              <a:t>Market Development</a:t>
            </a:r>
            <a:endParaRPr lang="en-US" sz="105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455B04CE-BD4E-86AE-A098-7706BC869F0A}"/>
              </a:ext>
            </a:extLst>
          </p:cNvPr>
          <p:cNvSpPr/>
          <p:nvPr/>
        </p:nvSpPr>
        <p:spPr>
          <a:xfrm>
            <a:off x="2106441" y="3675887"/>
            <a:ext cx="2103718" cy="674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Tier 2 cities via e-commerce first · Then physical expansion</a:t>
            </a:r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31EF3FB3-0714-4F71-CFF1-CEEBBCD2FF56}"/>
              </a:ext>
            </a:extLst>
          </p:cNvPr>
          <p:cNvSpPr/>
          <p:nvPr/>
        </p:nvSpPr>
        <p:spPr>
          <a:xfrm>
            <a:off x="1993145" y="1277752"/>
            <a:ext cx="2275773" cy="1438015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F0F2EC5B-B5C9-0C73-6650-39E898FEF24D}"/>
              </a:ext>
            </a:extLst>
          </p:cNvPr>
          <p:cNvSpPr/>
          <p:nvPr/>
        </p:nvSpPr>
        <p:spPr>
          <a:xfrm>
            <a:off x="1993145" y="1277752"/>
            <a:ext cx="2275773" cy="65903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5E5ECA1E-40BF-4982-4B85-565A8CF4A6BA}"/>
              </a:ext>
            </a:extLst>
          </p:cNvPr>
          <p:cNvSpPr/>
          <p:nvPr/>
        </p:nvSpPr>
        <p:spPr>
          <a:xfrm>
            <a:off x="2066298" y="1387481"/>
            <a:ext cx="2113218" cy="329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</a:rPr>
              <a:t>Diversification</a:t>
            </a:r>
            <a:endParaRPr lang="en-US" sz="105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28189902-A9E5-6035-A5D6-B4F6A8D66968}"/>
              </a:ext>
            </a:extLst>
          </p:cNvPr>
          <p:cNvSpPr/>
          <p:nvPr/>
        </p:nvSpPr>
        <p:spPr>
          <a:xfrm>
            <a:off x="2066298" y="2027561"/>
            <a:ext cx="2113218" cy="535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Kidswear / home textiles in new cities - only after stronger brand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DBA1B-2669-EE29-EDFA-885158A46A1F}"/>
              </a:ext>
            </a:extLst>
          </p:cNvPr>
          <p:cNvSpPr txBox="1"/>
          <p:nvPr/>
        </p:nvSpPr>
        <p:spPr>
          <a:xfrm>
            <a:off x="4750848" y="3335238"/>
            <a:ext cx="21037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(Existing Product + Existing Market)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0B44E-AB1B-1081-9AC1-D659DB230566}"/>
              </a:ext>
            </a:extLst>
          </p:cNvPr>
          <p:cNvSpPr txBox="1"/>
          <p:nvPr/>
        </p:nvSpPr>
        <p:spPr>
          <a:xfrm>
            <a:off x="2066298" y="3309120"/>
            <a:ext cx="20070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(Existing Product + New Market)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58B2DF-8439-5C12-5BBF-9FE843907657}"/>
              </a:ext>
            </a:extLst>
          </p:cNvPr>
          <p:cNvSpPr txBox="1"/>
          <p:nvPr/>
        </p:nvSpPr>
        <p:spPr>
          <a:xfrm>
            <a:off x="4677697" y="1632933"/>
            <a:ext cx="20070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(New Product + Existing Market)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9E270-192E-24CC-50F6-7FD7A85989C4}"/>
              </a:ext>
            </a:extLst>
          </p:cNvPr>
          <p:cNvSpPr txBox="1"/>
          <p:nvPr/>
        </p:nvSpPr>
        <p:spPr>
          <a:xfrm>
            <a:off x="1996737" y="1640991"/>
            <a:ext cx="1811690" cy="25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(New Product + New Market)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51560"/>
            <a:ext cx="2788920" cy="658368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3258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CCCC"/>
                </a:solidFill>
              </a:rPr>
              <a:t>Short-Term  ·  0–12 Months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92608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"Wear the Science" pop-up experiences at malls &amp; colleges</a:t>
            </a:r>
          </a:p>
        </p:txBody>
      </p:sp>
      <p:sp>
        <p:nvSpPr>
          <p:cNvPr id="9" name="Text 7"/>
          <p:cNvSpPr/>
          <p:nvPr/>
        </p:nvSpPr>
        <p:spPr>
          <a:xfrm>
            <a:off x="292608" y="24140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"LifeWear for India" digital storytelling campaign</a:t>
            </a:r>
          </a:p>
        </p:txBody>
      </p:sp>
      <p:sp>
        <p:nvSpPr>
          <p:cNvPr id="10" name="Text 8"/>
          <p:cNvSpPr/>
          <p:nvPr/>
        </p:nvSpPr>
        <p:spPr>
          <a:xfrm>
            <a:off x="292608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"Uniqlo Community Circles" — app-based engagement</a:t>
            </a:r>
          </a:p>
        </p:txBody>
      </p:sp>
      <p:sp>
        <p:nvSpPr>
          <p:cNvPr id="11" name="Text 9"/>
          <p:cNvSpPr/>
          <p:nvPr/>
        </p:nvSpPr>
        <p:spPr>
          <a:xfrm>
            <a:off x="292608" y="36210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"Try Before You Buy" wardrobe kits for home trials</a:t>
            </a:r>
          </a:p>
        </p:txBody>
      </p:sp>
      <p:sp>
        <p:nvSpPr>
          <p:cNvPr id="12" name="Text 10"/>
          <p:cNvSpPr/>
          <p:nvPr/>
        </p:nvSpPr>
        <p:spPr>
          <a:xfrm>
            <a:off x="292608" y="42245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"Uniqlo on Wheels" — mobile vans for Tier 2/3 cities</a:t>
            </a:r>
          </a:p>
        </p:txBody>
      </p:sp>
      <p:sp>
        <p:nvSpPr>
          <p:cNvPr id="13" name="Shape 11"/>
          <p:cNvSpPr/>
          <p:nvPr/>
        </p:nvSpPr>
        <p:spPr>
          <a:xfrm>
            <a:off x="3145536" y="105156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1051560"/>
            <a:ext cx="27889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36976" y="13258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CCCC"/>
                </a:solidFill>
              </a:rPr>
              <a:t>Medium-Term  ·  1–3 Years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36976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"Uniqlo Experience Stores" with fabric labs &amp; tech demo zones</a:t>
            </a:r>
          </a:p>
        </p:txBody>
      </p:sp>
      <p:sp>
        <p:nvSpPr>
          <p:cNvPr id="18" name="Text 16"/>
          <p:cNvSpPr/>
          <p:nvPr/>
        </p:nvSpPr>
        <p:spPr>
          <a:xfrm>
            <a:off x="3236976" y="24140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Omnichannel: click-and-collect + endless aisle + in-store digital</a:t>
            </a:r>
          </a:p>
        </p:txBody>
      </p:sp>
      <p:sp>
        <p:nvSpPr>
          <p:cNvPr id="19" name="Text 17"/>
          <p:cNvSpPr/>
          <p:nvPr/>
        </p:nvSpPr>
        <p:spPr>
          <a:xfrm>
            <a:off x="3236976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"Campus &amp; Corporate Partnerships" for everyday wear essentials</a:t>
            </a:r>
          </a:p>
        </p:txBody>
      </p:sp>
      <p:sp>
        <p:nvSpPr>
          <p:cNvPr id="20" name="Text 18"/>
          <p:cNvSpPr/>
          <p:nvPr/>
        </p:nvSpPr>
        <p:spPr>
          <a:xfrm>
            <a:off x="3236976" y="36210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Expand to Pune, Bengaluru, Ahmedabad, Chandigarh</a:t>
            </a:r>
          </a:p>
        </p:txBody>
      </p:sp>
      <p:sp>
        <p:nvSpPr>
          <p:cNvPr id="21" name="Shape 19"/>
          <p:cNvSpPr/>
          <p:nvPr/>
        </p:nvSpPr>
        <p:spPr>
          <a:xfrm>
            <a:off x="6089904" y="105156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051560"/>
            <a:ext cx="278892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13258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CCCC"/>
                </a:solidFill>
              </a:rPr>
              <a:t>Long-Term  ·  3–5 Years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81344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"India Fit Lab" — R&amp;D for local climate, body types &amp; preferences</a:t>
            </a:r>
          </a:p>
        </p:txBody>
      </p:sp>
      <p:sp>
        <p:nvSpPr>
          <p:cNvPr id="26" name="Text 24"/>
          <p:cNvSpPr/>
          <p:nvPr/>
        </p:nvSpPr>
        <p:spPr>
          <a:xfrm>
            <a:off x="6181344" y="24140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Compact cost-efficient stores in Tier 2/3 cities</a:t>
            </a:r>
          </a:p>
        </p:txBody>
      </p:sp>
      <p:sp>
        <p:nvSpPr>
          <p:cNvPr id="27" name="Text 25"/>
          <p:cNvSpPr/>
          <p:nvPr/>
        </p:nvSpPr>
        <p:spPr>
          <a:xfrm>
            <a:off x="6181344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Annual "LifeWear India Festival" — fashion + functionality</a:t>
            </a:r>
          </a:p>
        </p:txBody>
      </p:sp>
      <p:sp>
        <p:nvSpPr>
          <p:cNvPr id="28" name="Text 26"/>
          <p:cNvSpPr/>
          <p:nvPr/>
        </p:nvSpPr>
        <p:spPr>
          <a:xfrm>
            <a:off x="6181344" y="36210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Collaborations with Indian designers for limited-edition collections</a:t>
            </a:r>
          </a:p>
        </p:txBody>
      </p:sp>
      <p:sp>
        <p:nvSpPr>
          <p:cNvPr id="29" name="Text 27"/>
          <p:cNvSpPr/>
          <p:nvPr/>
        </p:nvSpPr>
        <p:spPr>
          <a:xfrm>
            <a:off x="6181344" y="42245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/>
              <a:t>→  </a:t>
            </a:r>
            <a:r>
              <a:rPr lang="en-US" sz="1000" dirty="0"/>
              <a:t>"Everyday Essentials" subscription model for basics &amp; innerwear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69080"/>
            <a:ext cx="9144000" cy="1074420"/>
          </a:xfrm>
          <a:prstGeom prst="rect">
            <a:avLst/>
          </a:prstGeom>
          <a:solidFill>
            <a:srgbClr val="E800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 &amp;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001C"/>
                </a:solidFill>
              </a:rPr>
              <a:t>Strategic Recommendations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384048" cy="384048"/>
          </a:xfrm>
          <a:prstGeom prst="ellipse">
            <a:avLst/>
          </a:prstGeom>
          <a:solidFill>
            <a:srgbClr val="E8001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Raise brand awareness through technology education campaigns &amp; community storytelling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E800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532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Expand store footprint to 50+ stores, prioritising Tier 1 &amp; digital-first Tier 2 entry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384048" cy="384048"/>
          </a:xfrm>
          <a:prstGeom prst="ellipse">
            <a:avLst/>
          </a:prstGeom>
          <a:solidFill>
            <a:srgbClr val="E8001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2369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Localise products for Indian climate, body types, and festive/occasion-wear needs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901952"/>
            <a:ext cx="384048" cy="384048"/>
          </a:xfrm>
          <a:prstGeom prst="ellipse">
            <a:avLst/>
          </a:prstGeom>
          <a:solidFill>
            <a:srgbClr val="E8001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Strengthen digital &amp; omnichannel presence; partner with Myntra/Amazon for wider reach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84048" cy="384048"/>
          </a:xfrm>
          <a:prstGeom prst="ellipse">
            <a:avLst/>
          </a:prstGeom>
          <a:solidFill>
            <a:srgbClr val="E8001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0368" y="2532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Scale India sourcing from 16% to 30% by FY27 to reduce costs &amp; geopolitical 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13308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FFFF"/>
                </a:solidFill>
              </a:rPr>
              <a:t>Uniqlo India is not a turnaround case — it is a growth opportunity waiting to be fully realised.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Fortune Institute of International Business  ·  Learning Team 4  ·  Strategic Management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1332</Words>
  <Application>Microsoft Office PowerPoint</Application>
  <PresentationFormat>On-screen Show (16:9)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Uniqlo India – Strategic Management</dc:title>
  <dc:subject>PptxGenJS Presentation</dc:subject>
  <dc:creator>PptxGenJS</dc:creator>
  <cp:lastModifiedBy>kritika choubey</cp:lastModifiedBy>
  <cp:revision>5</cp:revision>
  <dcterms:created xsi:type="dcterms:W3CDTF">2026-03-24T08:21:27Z</dcterms:created>
  <dcterms:modified xsi:type="dcterms:W3CDTF">2026-03-31T09:15:32Z</dcterms:modified>
</cp:coreProperties>
</file>